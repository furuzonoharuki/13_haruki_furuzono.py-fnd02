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8" r:id="rId3"/>
    <p:sldId id="266" r:id="rId4"/>
    <p:sldId id="263" r:id="rId5"/>
    <p:sldId id="269" r:id="rId6"/>
    <p:sldId id="258" r:id="rId7"/>
    <p:sldId id="270" r:id="rId8"/>
    <p:sldId id="264" r:id="rId9"/>
    <p:sldId id="265" r:id="rId10"/>
    <p:sldId id="271" r:id="rId11"/>
    <p:sldId id="272" r:id="rId12"/>
    <p:sldId id="259"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B83019-3447-2FFC-6BD1-0CBF7972161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E2A327D-CE2A-0194-016E-E09E17E188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A8AC51E-DD2E-1040-0225-979D711DFDAC}"/>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CD7B1190-C5BC-8BF2-FBE1-AD9254DF8E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20BADE-87BC-42CC-302E-30C42CF9C6E2}"/>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127633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CEC6C1-DE45-AA96-FEB9-7EAFD465BAD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98E2811-567C-1DCF-1A88-75B144FD193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4F129E-195B-9DAE-29F3-9850AE69152B}"/>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A04227BB-8E07-FA21-38C3-AED709E5AC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0068E0-9935-2772-3731-3FA6F13C834D}"/>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1181315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30BEA3-3F5E-FEEF-0B14-60BBAF875D3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FE1D32C-F7D8-4731-D684-EC8EB7261C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2B780A3-A211-18C4-3A0D-6B1725AAE228}"/>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E9957EE2-7605-1200-7F30-0D930F27E9C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789B81-7B2C-6047-3E27-BD721C1A6AB4}"/>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342079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FBE9D9-48EB-5AC3-49C1-D678903CE63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FD01318-602A-17DA-9414-99EB6199910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E07A292-DC52-3B12-92A6-1E5FE024AF3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7E352A-4D71-DB37-34A6-80CEB704B1DE}"/>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8AD71F9F-E0A1-E77B-F6F0-29F3BAE758B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BFDBA3-6E68-5412-A6A4-577523506584}"/>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1716911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121B6C-FD1E-819B-6B50-E68E570B469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D2ADAC-EF66-CA37-16FD-141CB8173F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7E7FC4-8A83-1DAE-6FC1-2E1CA7A928D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F16C2D0-8BDD-266A-A3AE-7E0ECF6438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479418B-635D-0BB2-26E9-A4450C02BA4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09EC37E-1A4C-C7BD-0314-7A0142C3FD36}"/>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8" name="フッター プレースホルダー 7">
            <a:extLst>
              <a:ext uri="{FF2B5EF4-FFF2-40B4-BE49-F238E27FC236}">
                <a16:creationId xmlns:a16="http://schemas.microsoft.com/office/drawing/2014/main" id="{750B81DB-A1AE-6AD7-259B-1A22F4B04F8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864F122-0E19-DBFB-FC7F-96F885FA2346}"/>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3011322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F1635C-3947-429F-85C2-5DD0A90FFEC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3977289-D53E-305F-3776-64DD1193E2AD}"/>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4" name="フッター プレースホルダー 3">
            <a:extLst>
              <a:ext uri="{FF2B5EF4-FFF2-40B4-BE49-F238E27FC236}">
                <a16:creationId xmlns:a16="http://schemas.microsoft.com/office/drawing/2014/main" id="{ED6ED82E-370E-6A62-58D6-8E4D35D9F94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D8B738D-9EC6-3417-CE91-CCFAF927873A}"/>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44188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1A26402-1536-6DDD-E538-41A72C99B016}"/>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3" name="フッター プレースホルダー 2">
            <a:extLst>
              <a:ext uri="{FF2B5EF4-FFF2-40B4-BE49-F238E27FC236}">
                <a16:creationId xmlns:a16="http://schemas.microsoft.com/office/drawing/2014/main" id="{8272E56A-C123-2DF8-242D-88565E4CC96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41ED883-F5E6-B32C-4186-8FC832163425}"/>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308644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2DA7A2-26B1-228D-065B-53E159F48C9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889295D-97EC-801E-186D-342D8DA703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2CE3A36-7BBA-9F83-7465-B0FC91B56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BE8AF02-7FB8-CE73-98F4-FCBBC181ACDB}"/>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52270452-C3E8-A080-2F05-580CA8D079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F92BAA6-EA4B-CD5B-F8B5-B00C8F4CFDDA}"/>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122609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E9FB36-C1C7-C211-CF1A-703D4664DDC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B1AA123-7929-577B-E59E-943BB9A430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2520E96-898A-FE9C-AD06-DE570BDA5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4FA0A27-D6E8-AFB9-C198-42948AE56E9D}"/>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6" name="フッター プレースホルダー 5">
            <a:extLst>
              <a:ext uri="{FF2B5EF4-FFF2-40B4-BE49-F238E27FC236}">
                <a16:creationId xmlns:a16="http://schemas.microsoft.com/office/drawing/2014/main" id="{7E8A1635-4C52-5DDC-F6AE-5FE99B464D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AC7EBB6-0E77-7231-0CD1-5979AB996D72}"/>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668562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71538E-61D8-82EF-35A2-BB6658137E5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E426471-2DCC-E36B-7018-1C8D7D7AF89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BB7B3B-3D0C-1007-4DDE-5D48373DED51}"/>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BB68C994-CE6D-DEB1-690C-76EEAF3888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C87827-BCFE-4E6C-576E-1B2DCAA7B1D8}"/>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5190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ED69737-64AB-B93F-B10C-37401B5E70F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287C057-CCEA-40CE-8E4B-BB3B01E2AF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FFAFBB-31E1-AF4F-067A-84699E7270E7}"/>
              </a:ext>
            </a:extLst>
          </p:cNvPr>
          <p:cNvSpPr>
            <a:spLocks noGrp="1"/>
          </p:cNvSpPr>
          <p:nvPr>
            <p:ph type="dt" sz="half" idx="10"/>
          </p:nvPr>
        </p:nvSpPr>
        <p:spPr/>
        <p:txBody>
          <a:body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E1BE7A45-0D86-C083-ED01-3C9095802F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9FEF4F-9871-833A-F2F8-E8A115E6DFDF}"/>
              </a:ext>
            </a:extLst>
          </p:cNvPr>
          <p:cNvSpPr>
            <a:spLocks noGrp="1"/>
          </p:cNvSpPr>
          <p:nvPr>
            <p:ph type="sldNum" sz="quarter" idx="12"/>
          </p:nvPr>
        </p:nvSpPr>
        <p:spPr/>
        <p:txBody>
          <a:body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2354215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6F1717B-0ACB-DF1A-A546-F3DAF6312D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D421AB4-244E-6A7E-68DF-A3696274E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F8E429-8851-2E1F-85D6-DAFF886D62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A8024A-6689-40BD-A3E9-4BC3833A013D}" type="datetimeFigureOut">
              <a:rPr kumimoji="1" lang="ja-JP" altLang="en-US" smtClean="0"/>
              <a:t>2026/1/21</a:t>
            </a:fld>
            <a:endParaRPr kumimoji="1" lang="ja-JP" altLang="en-US"/>
          </a:p>
        </p:txBody>
      </p:sp>
      <p:sp>
        <p:nvSpPr>
          <p:cNvPr id="5" name="フッター プレースホルダー 4">
            <a:extLst>
              <a:ext uri="{FF2B5EF4-FFF2-40B4-BE49-F238E27FC236}">
                <a16:creationId xmlns:a16="http://schemas.microsoft.com/office/drawing/2014/main" id="{AEF05CE2-B6FF-3CE0-D0C1-A7C4CBDF90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FADDBA2-E789-1DA3-2467-AEC270EF9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A7FA13-29BA-494C-9F7D-0845650F40CF}" type="slidenum">
              <a:rPr kumimoji="1" lang="ja-JP" altLang="en-US" smtClean="0"/>
              <a:t>‹#›</a:t>
            </a:fld>
            <a:endParaRPr kumimoji="1" lang="ja-JP" altLang="en-US"/>
          </a:p>
        </p:txBody>
      </p:sp>
    </p:spTree>
    <p:extLst>
      <p:ext uri="{BB962C8B-B14F-4D97-AF65-F5344CB8AC3E}">
        <p14:creationId xmlns:p14="http://schemas.microsoft.com/office/powerpoint/2010/main" val="787723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C253-5256-EDDF-E983-576A5B33650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560E90C-118D-5BEB-A099-BCC680D76608}"/>
              </a:ext>
            </a:extLst>
          </p:cNvPr>
          <p:cNvSpPr txBox="1"/>
          <p:nvPr/>
        </p:nvSpPr>
        <p:spPr>
          <a:xfrm>
            <a:off x="3470785" y="3827739"/>
            <a:ext cx="5250427" cy="369332"/>
          </a:xfrm>
          <a:prstGeom prst="rect">
            <a:avLst/>
          </a:prstGeom>
          <a:noFill/>
        </p:spPr>
        <p:txBody>
          <a:bodyPr wrap="square" rtlCol="0">
            <a:spAutoFit/>
          </a:bodyPr>
          <a:lstStyle/>
          <a:p>
            <a:pPr algn="ctr"/>
            <a:r>
              <a:rPr lang="ja-JP" altLang="en-US" dirty="0">
                <a:latin typeface="BIZ UDPゴシック" panose="020B0400000000000000" pitchFamily="50" charset="-128"/>
                <a:ea typeface="BIZ UDPゴシック" panose="020B0400000000000000" pitchFamily="50" charset="-128"/>
              </a:rPr>
              <a:t>モノづくりエンジニアリング部　古薗</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76D58E8F-CE0A-0E8C-8DD5-25799C195CB5}"/>
              </a:ext>
            </a:extLst>
          </p:cNvPr>
          <p:cNvSpPr txBox="1"/>
          <p:nvPr/>
        </p:nvSpPr>
        <p:spPr>
          <a:xfrm>
            <a:off x="217290" y="2782669"/>
            <a:ext cx="11757415" cy="646331"/>
          </a:xfrm>
          <a:prstGeom prst="rect">
            <a:avLst/>
          </a:prstGeom>
          <a:noFill/>
        </p:spPr>
        <p:txBody>
          <a:bodyPr wrap="square" rtlCol="0">
            <a:spAutoFit/>
          </a:bodyPr>
          <a:lstStyle/>
          <a:p>
            <a:pPr algn="ctr"/>
            <a:r>
              <a:rPr lang="ja-JP" altLang="en-US" sz="3600" dirty="0">
                <a:latin typeface="BIZ UDPゴシック" panose="020B0400000000000000" pitchFamily="50" charset="-128"/>
                <a:ea typeface="BIZ UDPゴシック" panose="020B0400000000000000" pitchFamily="50" charset="-128"/>
              </a:rPr>
              <a:t>プログラミング基礎</a:t>
            </a:r>
            <a:r>
              <a:rPr lang="en-US" altLang="ja-JP" sz="3600" dirty="0">
                <a:latin typeface="BIZ UDPゴシック" panose="020B0400000000000000" pitchFamily="50" charset="-128"/>
                <a:ea typeface="BIZ UDPゴシック" panose="020B0400000000000000" pitchFamily="50" charset="-128"/>
              </a:rPr>
              <a:t>-python</a:t>
            </a:r>
            <a:r>
              <a:rPr lang="ja-JP" altLang="en-US" sz="3600" dirty="0">
                <a:latin typeface="BIZ UDPゴシック" panose="020B0400000000000000" pitchFamily="50" charset="-128"/>
                <a:ea typeface="BIZ UDPゴシック" panose="020B0400000000000000" pitchFamily="50" charset="-128"/>
              </a:rPr>
              <a:t>コース</a:t>
            </a:r>
            <a:endParaRPr lang="en-US" altLang="ja-JP" sz="3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8099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7D9F9-D3EF-C150-0155-DC4E5FC5D094}"/>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67AA7FF-D69B-0F25-135F-F5B171EB1019}"/>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EB190F13-81D4-17B7-65F9-2ED25A6082FA}"/>
              </a:ext>
            </a:extLst>
          </p:cNvPr>
          <p:cNvSpPr txBox="1"/>
          <p:nvPr/>
        </p:nvSpPr>
        <p:spPr>
          <a:xfrm>
            <a:off x="217292" y="582067"/>
            <a:ext cx="11757415" cy="2677656"/>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＜受講のきっかけ</a:t>
            </a:r>
            <a:r>
              <a:rPr kumimoji="1" lang="ja-JP" altLang="en-US" sz="2800" u="sng" dirty="0">
                <a:latin typeface="BIZ UDPゴシック" panose="020B0400000000000000" pitchFamily="50" charset="-128"/>
                <a:ea typeface="BIZ UDPゴシック" panose="020B0400000000000000" pitchFamily="50" charset="-128"/>
              </a:rPr>
              <a:t>＞</a:t>
            </a:r>
            <a:endParaRPr kumimoji="1" lang="en-US" altLang="ja-JP" sz="2800" u="sng"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自業務 </a:t>
            </a:r>
            <a:r>
              <a:rPr lang="en-US" altLang="ja-JP" sz="2800" dirty="0">
                <a:latin typeface="BIZ UDPゴシック" panose="020B0400000000000000" pitchFamily="50" charset="-128"/>
                <a:ea typeface="BIZ UDPゴシック" panose="020B0400000000000000" pitchFamily="50" charset="-128"/>
              </a:rPr>
              <a:t>: </a:t>
            </a:r>
            <a:r>
              <a:rPr kumimoji="1" lang="ja-JP" altLang="en-US" sz="2800" dirty="0">
                <a:latin typeface="BIZ UDPゴシック" panose="020B0400000000000000" pitchFamily="50" charset="-128"/>
                <a:ea typeface="BIZ UDPゴシック" panose="020B0400000000000000" pitchFamily="50" charset="-128"/>
              </a:rPr>
              <a:t>部内の困り</a:t>
            </a:r>
            <a:r>
              <a:rPr lang="ja-JP" altLang="en-US" sz="2800" dirty="0">
                <a:latin typeface="BIZ UDPゴシック" panose="020B0400000000000000" pitchFamily="50" charset="-128"/>
                <a:ea typeface="BIZ UDPゴシック" panose="020B0400000000000000" pitchFamily="50" charset="-128"/>
              </a:rPr>
              <a:t>事</a:t>
            </a:r>
            <a:r>
              <a:rPr kumimoji="1" lang="ja-JP" altLang="en-US" sz="2800" dirty="0">
                <a:latin typeface="BIZ UDPゴシック" panose="020B0400000000000000" pitchFamily="50" charset="-128"/>
                <a:ea typeface="BIZ UDPゴシック" panose="020B0400000000000000" pitchFamily="50" charset="-128"/>
              </a:rPr>
              <a:t>をデジタル改善</a:t>
            </a:r>
            <a:endParaRPr kumimoji="1" lang="en-US" altLang="ja-JP" sz="2800"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a:t>
            </a:r>
            <a:r>
              <a:rPr lang="ja-JP" altLang="en-US" sz="3200" dirty="0">
                <a:latin typeface="BIZ UDPゴシック" panose="020B0400000000000000" pitchFamily="50" charset="-128"/>
                <a:ea typeface="BIZ UDPゴシック" panose="020B0400000000000000" pitchFamily="50" charset="-128"/>
              </a:rPr>
              <a:t>　</a:t>
            </a:r>
            <a:r>
              <a:rPr lang="ja-JP" altLang="en-US" sz="2400" dirty="0">
                <a:latin typeface="BIZ UDPゴシック" panose="020B0400000000000000" pitchFamily="50" charset="-128"/>
                <a:ea typeface="BIZ UDPゴシック" panose="020B0400000000000000" pitchFamily="50" charset="-128"/>
              </a:rPr>
              <a:t>古薗ツール ： </a:t>
            </a:r>
            <a:r>
              <a:rPr lang="en-US" altLang="ja-JP" sz="2400" dirty="0">
                <a:latin typeface="BIZ UDPゴシック" panose="020B0400000000000000" pitchFamily="50" charset="-128"/>
                <a:ea typeface="BIZ UDPゴシック" panose="020B0400000000000000" pitchFamily="50" charset="-128"/>
              </a:rPr>
              <a:t>VBA</a:t>
            </a:r>
            <a:r>
              <a:rPr lang="ja-JP" altLang="en-US" sz="2400" dirty="0">
                <a:latin typeface="BIZ UDPゴシック" panose="020B0400000000000000" pitchFamily="50" charset="-128"/>
                <a:ea typeface="BIZ UDPゴシック" panose="020B0400000000000000" pitchFamily="50" charset="-128"/>
              </a:rPr>
              <a:t> </a:t>
            </a:r>
            <a:r>
              <a:rPr lang="en-US" altLang="ja-JP" sz="2400" dirty="0">
                <a:latin typeface="BIZ UDPゴシック" panose="020B0400000000000000" pitchFamily="50" charset="-128"/>
                <a:ea typeface="BIZ UDPゴシック" panose="020B0400000000000000" pitchFamily="50" charset="-128"/>
              </a:rPr>
              <a:t>, PowerPlatform</a:t>
            </a:r>
            <a:r>
              <a:rPr lang="ja-JP" altLang="en-US" sz="2400" dirty="0">
                <a:latin typeface="BIZ UDPゴシック" panose="020B0400000000000000" pitchFamily="50" charset="-128"/>
                <a:ea typeface="BIZ UDPゴシック" panose="020B0400000000000000" pitchFamily="50" charset="-128"/>
              </a:rPr>
              <a:t>系　</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→目標 ： </a:t>
            </a:r>
            <a:r>
              <a:rPr lang="en-US" altLang="ja-JP" sz="2400" dirty="0">
                <a:latin typeface="BIZ UDPゴシック" panose="020B0400000000000000" pitchFamily="50" charset="-128"/>
                <a:ea typeface="BIZ UDPゴシック" panose="020B0400000000000000" pitchFamily="50" charset="-128"/>
              </a:rPr>
              <a:t>Python</a:t>
            </a:r>
            <a:r>
              <a:rPr lang="ja-JP" altLang="en-US" sz="2400" dirty="0">
                <a:latin typeface="BIZ UDPゴシック" panose="020B0400000000000000" pitchFamily="50" charset="-128"/>
                <a:ea typeface="BIZ UDPゴシック" panose="020B0400000000000000" pitchFamily="50" charset="-128"/>
              </a:rPr>
              <a:t>習得で多方面の困り事を助けたい！</a:t>
            </a:r>
            <a:endParaRPr lang="en-US" altLang="ja-JP" sz="2400" dirty="0">
              <a:latin typeface="BIZ UDPゴシック" panose="020B0400000000000000" pitchFamily="50" charset="-128"/>
              <a:ea typeface="BIZ UDPゴシック" panose="020B0400000000000000" pitchFamily="50" charset="-128"/>
            </a:endParaRPr>
          </a:p>
          <a:p>
            <a:endParaRPr lang="en-US" altLang="ja-JP" sz="2800" dirty="0">
              <a:latin typeface="BIZ UDPゴシック" panose="020B0400000000000000" pitchFamily="50" charset="-128"/>
              <a:ea typeface="BIZ UDPゴシック" panose="020B0400000000000000" pitchFamily="50" charset="-128"/>
            </a:endParaRPr>
          </a:p>
          <a:p>
            <a:endParaRPr lang="en-US" altLang="ja-JP" sz="28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61781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F4A49-D52B-25DB-BCD8-21E08C2AA14A}"/>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A86C5CCE-7A70-6F38-E6B9-CF7CEB6888A2}"/>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0D395C15-9B66-2FC3-434B-B02048BD83B7}"/>
              </a:ext>
            </a:extLst>
          </p:cNvPr>
          <p:cNvSpPr txBox="1"/>
          <p:nvPr/>
        </p:nvSpPr>
        <p:spPr>
          <a:xfrm>
            <a:off x="217292" y="582067"/>
            <a:ext cx="11757415" cy="5816977"/>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＜受講のきっかけ</a:t>
            </a:r>
            <a:r>
              <a:rPr kumimoji="1" lang="ja-JP" altLang="en-US" sz="2800" u="sng" dirty="0">
                <a:latin typeface="BIZ UDPゴシック" panose="020B0400000000000000" pitchFamily="50" charset="-128"/>
                <a:ea typeface="BIZ UDPゴシック" panose="020B0400000000000000" pitchFamily="50" charset="-128"/>
              </a:rPr>
              <a:t>＞</a:t>
            </a:r>
            <a:endParaRPr kumimoji="1" lang="en-US" altLang="ja-JP" sz="2800" u="sng"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自業務 </a:t>
            </a:r>
            <a:r>
              <a:rPr lang="en-US" altLang="ja-JP" sz="2800" dirty="0">
                <a:latin typeface="BIZ UDPゴシック" panose="020B0400000000000000" pitchFamily="50" charset="-128"/>
                <a:ea typeface="BIZ UDPゴシック" panose="020B0400000000000000" pitchFamily="50" charset="-128"/>
              </a:rPr>
              <a:t>: </a:t>
            </a:r>
            <a:r>
              <a:rPr kumimoji="1" lang="ja-JP" altLang="en-US" sz="2800" dirty="0">
                <a:latin typeface="BIZ UDPゴシック" panose="020B0400000000000000" pitchFamily="50" charset="-128"/>
                <a:ea typeface="BIZ UDPゴシック" panose="020B0400000000000000" pitchFamily="50" charset="-128"/>
              </a:rPr>
              <a:t>部内の困り</a:t>
            </a:r>
            <a:r>
              <a:rPr lang="ja-JP" altLang="en-US" sz="2800" dirty="0">
                <a:latin typeface="BIZ UDPゴシック" panose="020B0400000000000000" pitchFamily="50" charset="-128"/>
                <a:ea typeface="BIZ UDPゴシック" panose="020B0400000000000000" pitchFamily="50" charset="-128"/>
              </a:rPr>
              <a:t>事</a:t>
            </a:r>
            <a:r>
              <a:rPr kumimoji="1" lang="ja-JP" altLang="en-US" sz="2800" dirty="0">
                <a:latin typeface="BIZ UDPゴシック" panose="020B0400000000000000" pitchFamily="50" charset="-128"/>
                <a:ea typeface="BIZ UDPゴシック" panose="020B0400000000000000" pitchFamily="50" charset="-128"/>
              </a:rPr>
              <a:t>をデジタル改善</a:t>
            </a:r>
            <a:endParaRPr kumimoji="1" lang="en-US" altLang="ja-JP" sz="2800"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a:t>
            </a:r>
            <a:r>
              <a:rPr lang="ja-JP" altLang="en-US" sz="3200" dirty="0">
                <a:latin typeface="BIZ UDPゴシック" panose="020B0400000000000000" pitchFamily="50" charset="-128"/>
                <a:ea typeface="BIZ UDPゴシック" panose="020B0400000000000000" pitchFamily="50" charset="-128"/>
              </a:rPr>
              <a:t>　</a:t>
            </a:r>
            <a:r>
              <a:rPr lang="ja-JP" altLang="en-US" sz="2400" dirty="0">
                <a:latin typeface="BIZ UDPゴシック" panose="020B0400000000000000" pitchFamily="50" charset="-128"/>
                <a:ea typeface="BIZ UDPゴシック" panose="020B0400000000000000" pitchFamily="50" charset="-128"/>
              </a:rPr>
              <a:t>古薗ツール ： </a:t>
            </a:r>
            <a:r>
              <a:rPr lang="en-US" altLang="ja-JP" sz="2400" dirty="0">
                <a:latin typeface="BIZ UDPゴシック" panose="020B0400000000000000" pitchFamily="50" charset="-128"/>
                <a:ea typeface="BIZ UDPゴシック" panose="020B0400000000000000" pitchFamily="50" charset="-128"/>
              </a:rPr>
              <a:t>VBA</a:t>
            </a:r>
            <a:r>
              <a:rPr lang="ja-JP" altLang="en-US" sz="2400" dirty="0">
                <a:latin typeface="BIZ UDPゴシック" panose="020B0400000000000000" pitchFamily="50" charset="-128"/>
                <a:ea typeface="BIZ UDPゴシック" panose="020B0400000000000000" pitchFamily="50" charset="-128"/>
              </a:rPr>
              <a:t> </a:t>
            </a:r>
            <a:r>
              <a:rPr lang="en-US" altLang="ja-JP" sz="2400" dirty="0">
                <a:latin typeface="BIZ UDPゴシック" panose="020B0400000000000000" pitchFamily="50" charset="-128"/>
                <a:ea typeface="BIZ UDPゴシック" panose="020B0400000000000000" pitchFamily="50" charset="-128"/>
              </a:rPr>
              <a:t>, PowerPlatform</a:t>
            </a:r>
            <a:r>
              <a:rPr lang="ja-JP" altLang="en-US" sz="2400" dirty="0">
                <a:latin typeface="BIZ UDPゴシック" panose="020B0400000000000000" pitchFamily="50" charset="-128"/>
                <a:ea typeface="BIZ UDPゴシック" panose="020B0400000000000000" pitchFamily="50" charset="-128"/>
              </a:rPr>
              <a:t>系　</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→目標 ： </a:t>
            </a:r>
            <a:r>
              <a:rPr lang="en-US" altLang="ja-JP" sz="2400" dirty="0">
                <a:latin typeface="BIZ UDPゴシック" panose="020B0400000000000000" pitchFamily="50" charset="-128"/>
                <a:ea typeface="BIZ UDPゴシック" panose="020B0400000000000000" pitchFamily="50" charset="-128"/>
              </a:rPr>
              <a:t>Python</a:t>
            </a:r>
            <a:r>
              <a:rPr lang="ja-JP" altLang="en-US" sz="2400" dirty="0">
                <a:latin typeface="BIZ UDPゴシック" panose="020B0400000000000000" pitchFamily="50" charset="-128"/>
                <a:ea typeface="BIZ UDPゴシック" panose="020B0400000000000000" pitchFamily="50" charset="-128"/>
              </a:rPr>
              <a:t>習得で多方面の困り事を助けたい！</a:t>
            </a:r>
            <a:endParaRPr lang="en-US" altLang="ja-JP" sz="2400" dirty="0">
              <a:latin typeface="BIZ UDPゴシック" panose="020B0400000000000000" pitchFamily="50" charset="-128"/>
              <a:ea typeface="BIZ UDPゴシック" panose="020B0400000000000000" pitchFamily="50" charset="-128"/>
            </a:endParaRPr>
          </a:p>
          <a:p>
            <a:endParaRPr lang="en-US" altLang="ja-JP" sz="2800" dirty="0">
              <a:latin typeface="BIZ UDPゴシック" panose="020B0400000000000000" pitchFamily="50" charset="-128"/>
              <a:ea typeface="BIZ UDPゴシック" panose="020B0400000000000000" pitchFamily="50" charset="-128"/>
            </a:endParaRPr>
          </a:p>
          <a:p>
            <a:r>
              <a:rPr lang="ja-JP" altLang="en-US" sz="2800" u="sng" dirty="0">
                <a:latin typeface="BIZ UDPゴシック" panose="020B0400000000000000" pitchFamily="50" charset="-128"/>
                <a:ea typeface="BIZ UDPゴシック" panose="020B0400000000000000" pitchFamily="50" charset="-128"/>
              </a:rPr>
              <a:t>＜受講してみて感じたこと＞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3200" dirty="0">
                <a:latin typeface="BIZ UDPゴシック" panose="020B0400000000000000" pitchFamily="50" charset="-128"/>
                <a:ea typeface="BIZ UDPゴシック" panose="020B0400000000000000" pitchFamily="50" charset="-128"/>
              </a:rPr>
              <a:t>　</a:t>
            </a:r>
            <a:r>
              <a:rPr lang="ja-JP" altLang="en-US" sz="2800" dirty="0">
                <a:latin typeface="BIZ UDPゴシック" panose="020B0400000000000000" pitchFamily="50" charset="-128"/>
                <a:ea typeface="BIZ UDPゴシック" panose="020B0400000000000000" pitchFamily="50" charset="-128"/>
              </a:rPr>
              <a:t>①</a:t>
            </a:r>
            <a:r>
              <a:rPr lang="en-US" altLang="ja-JP" sz="2800" dirty="0">
                <a:latin typeface="BIZ UDPゴシック" panose="020B0400000000000000" pitchFamily="50" charset="-128"/>
                <a:ea typeface="BIZ UDPゴシック" panose="020B0400000000000000" pitchFamily="50" charset="-128"/>
              </a:rPr>
              <a:t>AI</a:t>
            </a:r>
            <a:r>
              <a:rPr lang="ja-JP" altLang="en-US" sz="2800" dirty="0">
                <a:latin typeface="BIZ UDPゴシック" panose="020B0400000000000000" pitchFamily="50" charset="-128"/>
                <a:ea typeface="BIZ UDPゴシック" panose="020B0400000000000000" pitchFamily="50" charset="-128"/>
              </a:rPr>
              <a:t>を使わないことの大変さ</a:t>
            </a:r>
            <a:endParaRPr lang="en-US" altLang="ja-JP" sz="3200" dirty="0">
              <a:latin typeface="BIZ UDPゴシック" panose="020B0400000000000000" pitchFamily="50" charset="-128"/>
              <a:ea typeface="BIZ UDPゴシック" panose="020B0400000000000000" pitchFamily="50" charset="-128"/>
            </a:endParaRPr>
          </a:p>
          <a:p>
            <a:r>
              <a:rPr lang="ja-JP" altLang="en-US" sz="3200" dirty="0">
                <a:latin typeface="BIZ UDPゴシック" panose="020B0400000000000000" pitchFamily="50" charset="-128"/>
                <a:ea typeface="BIZ UDPゴシック" panose="020B0400000000000000" pitchFamily="50" charset="-128"/>
              </a:rPr>
              <a:t>　　　</a:t>
            </a:r>
            <a:r>
              <a:rPr lang="ja-JP" altLang="en-US" sz="2400" dirty="0">
                <a:latin typeface="BIZ UDPゴシック" panose="020B0400000000000000" pitchFamily="50" charset="-128"/>
                <a:ea typeface="BIZ UDPゴシック" panose="020B0400000000000000" pitchFamily="50" charset="-128"/>
              </a:rPr>
              <a:t>自業務は</a:t>
            </a:r>
            <a:r>
              <a:rPr lang="en-US" altLang="ja-JP" sz="2400" dirty="0">
                <a:latin typeface="BIZ UDPゴシック" panose="020B0400000000000000" pitchFamily="50" charset="-128"/>
                <a:ea typeface="BIZ UDPゴシック" panose="020B0400000000000000" pitchFamily="50" charset="-128"/>
              </a:rPr>
              <a:t>AI</a:t>
            </a:r>
            <a:r>
              <a:rPr lang="ja-JP" altLang="en-US" sz="2400" dirty="0">
                <a:latin typeface="BIZ UDPゴシック" panose="020B0400000000000000" pitchFamily="50" charset="-128"/>
                <a:ea typeface="BIZ UDPゴシック" panose="020B0400000000000000" pitchFamily="50" charset="-128"/>
              </a:rPr>
              <a:t>頼りのコーディング、コード分析・・　</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期間中はネットで調べること・理解することが大変でした</a:t>
            </a:r>
            <a:endParaRPr lang="en-US" altLang="ja-JP" sz="2400" dirty="0">
              <a:latin typeface="BIZ UDPゴシック" panose="020B0400000000000000" pitchFamily="50" charset="-128"/>
              <a:ea typeface="BIZ UDPゴシック" panose="020B0400000000000000" pitchFamily="50" charset="-128"/>
            </a:endParaRPr>
          </a:p>
          <a:p>
            <a:r>
              <a:rPr lang="ja-JP" altLang="en-US" sz="3200" dirty="0">
                <a:latin typeface="BIZ UDPゴシック" panose="020B0400000000000000" pitchFamily="50" charset="-128"/>
                <a:ea typeface="BIZ UDPゴシック" panose="020B0400000000000000" pitchFamily="50" charset="-128"/>
              </a:rPr>
              <a:t>　</a:t>
            </a:r>
            <a:r>
              <a:rPr lang="ja-JP" altLang="en-US" sz="2800" dirty="0">
                <a:latin typeface="BIZ UDPゴシック" panose="020B0400000000000000" pitchFamily="50" charset="-128"/>
                <a:ea typeface="BIZ UDPゴシック" panose="020B0400000000000000" pitchFamily="50" charset="-128"/>
              </a:rPr>
              <a:t>②人の温かさ</a:t>
            </a:r>
            <a:endParaRPr lang="en-US" altLang="ja-JP" sz="2800" dirty="0">
              <a:latin typeface="BIZ UDPゴシック" panose="020B0400000000000000" pitchFamily="50" charset="-128"/>
              <a:ea typeface="BIZ UDPゴシック" panose="020B0400000000000000" pitchFamily="50" charset="-128"/>
            </a:endParaRPr>
          </a:p>
          <a:p>
            <a:r>
              <a:rPr lang="ja-JP" altLang="en-US" sz="32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誰かに相談した困り事を解決したとき、一緒に喜んでくれた！</a:t>
            </a:r>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a:latin typeface="BIZ UDPゴシック" panose="020B0400000000000000" pitchFamily="50" charset="-128"/>
                <a:ea typeface="BIZ UDPゴシック" panose="020B0400000000000000" pitchFamily="50" charset="-128"/>
              </a:rPr>
              <a:t>　　　　　→</a:t>
            </a:r>
            <a:r>
              <a:rPr lang="en-US" altLang="ja-JP" sz="2000" dirty="0">
                <a:latin typeface="BIZ UDPゴシック" panose="020B0400000000000000" pitchFamily="50" charset="-128"/>
                <a:ea typeface="BIZ UDPゴシック" panose="020B0400000000000000" pitchFamily="50" charset="-128"/>
              </a:rPr>
              <a:t>AI</a:t>
            </a:r>
            <a:r>
              <a:rPr lang="ja-JP" altLang="en-US" sz="2000" dirty="0">
                <a:latin typeface="BIZ UDPゴシック" panose="020B0400000000000000" pitchFamily="50" charset="-128"/>
                <a:ea typeface="BIZ UDPゴシック" panose="020B0400000000000000" pitchFamily="50" charset="-128"/>
              </a:rPr>
              <a:t>頼りでは感じられない嬉しさ・もっと頑張ろうの向上心</a:t>
            </a:r>
            <a:endParaRPr lang="en-US" altLang="ja-JP" sz="2800" dirty="0">
              <a:latin typeface="BIZ UDPゴシック" panose="020B0400000000000000" pitchFamily="50" charset="-128"/>
              <a:ea typeface="BIZ UDPゴシック" panose="020B0400000000000000" pitchFamily="50" charset="-128"/>
            </a:endParaRPr>
          </a:p>
          <a:p>
            <a:r>
              <a:rPr lang="ja-JP" altLang="en-US" sz="3200" dirty="0">
                <a:latin typeface="BIZ UDPゴシック" panose="020B0400000000000000" pitchFamily="50" charset="-128"/>
                <a:ea typeface="BIZ UDPゴシック" panose="020B0400000000000000" pitchFamily="50" charset="-128"/>
              </a:rPr>
              <a:t>　　　</a:t>
            </a:r>
            <a:endParaRPr lang="en-US" altLang="ja-JP" sz="28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9103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3D765-45D1-7EF9-A1E2-E388A6A4A0F5}"/>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2362152-A0E8-9CD3-1B6A-B2519EB7797E}"/>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095554D4-5F7A-FA71-6813-D0B8F5AB3383}"/>
              </a:ext>
            </a:extLst>
          </p:cNvPr>
          <p:cNvSpPr txBox="1"/>
          <p:nvPr/>
        </p:nvSpPr>
        <p:spPr>
          <a:xfrm>
            <a:off x="217292" y="582067"/>
            <a:ext cx="11757415" cy="3170099"/>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＜今回の講義で勉強になったこと＞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①調べる力の大事さ、達成感</a:t>
            </a:r>
            <a:endParaRPr lang="en-US" altLang="ja-JP" sz="28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a:t>
            </a:r>
            <a:r>
              <a:rPr lang="en-US" altLang="ja-JP" sz="2000" dirty="0">
                <a:latin typeface="BIZ UDPゴシック" panose="020B0400000000000000" pitchFamily="50" charset="-128"/>
                <a:ea typeface="BIZ UDPゴシック" panose="020B0400000000000000" pitchFamily="50" charset="-128"/>
              </a:rPr>
              <a:t>AI</a:t>
            </a:r>
            <a:r>
              <a:rPr lang="ja-JP" altLang="en-US" sz="2000" dirty="0">
                <a:latin typeface="BIZ UDPゴシック" panose="020B0400000000000000" pitchFamily="50" charset="-128"/>
                <a:ea typeface="BIZ UDPゴシック" panose="020B0400000000000000" pitchFamily="50" charset="-128"/>
              </a:rPr>
              <a:t>を使うことも大事だが・・</a:t>
            </a:r>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a:latin typeface="BIZ UDPゴシック" panose="020B0400000000000000" pitchFamily="50" charset="-128"/>
                <a:ea typeface="BIZ UDPゴシック" panose="020B0400000000000000" pitchFamily="50" charset="-128"/>
              </a:rPr>
              <a:t>　　　　　 　一生懸命考えることで自分のアイデアが思いつく　→ 頑張って形にできたときの達成感！</a:t>
            </a:r>
            <a:endParaRPr lang="en-US" altLang="ja-JP" sz="20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endParaRPr lang="en-US" altLang="ja-JP" sz="2400"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②抱え込みすぎず、誰かに助けを求めること</a:t>
            </a:r>
            <a:endParaRPr lang="en-US" altLang="ja-JP" sz="28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解決したときの喜びを誰かと共有することで、プログラミングのモチベーションに</a:t>
            </a:r>
            <a:endParaRPr lang="en-US" altLang="ja-JP" sz="20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困り事を一緒に解決して、一緒に喜びたい！</a:t>
            </a:r>
            <a:endParaRPr lang="en-US" altLang="ja-JP" sz="2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65714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CE1BE-5A75-9FB0-0065-25E665463CA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0D0247C-1636-5841-0CDA-BADA81987343}"/>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F1A66623-AEF0-EA97-6DEC-ACFB6B54BD44}"/>
              </a:ext>
            </a:extLst>
          </p:cNvPr>
          <p:cNvSpPr txBox="1"/>
          <p:nvPr/>
        </p:nvSpPr>
        <p:spPr>
          <a:xfrm>
            <a:off x="217292" y="582067"/>
            <a:ext cx="11757415" cy="4708981"/>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＜今回の講義で勉強になったこと＞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①調べる力の大事さ、達成感</a:t>
            </a:r>
            <a:endParaRPr lang="en-US" altLang="ja-JP" sz="28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a:t>
            </a:r>
            <a:r>
              <a:rPr lang="en-US" altLang="ja-JP" sz="2000" dirty="0">
                <a:latin typeface="BIZ UDPゴシック" panose="020B0400000000000000" pitchFamily="50" charset="-128"/>
                <a:ea typeface="BIZ UDPゴシック" panose="020B0400000000000000" pitchFamily="50" charset="-128"/>
              </a:rPr>
              <a:t>AI</a:t>
            </a:r>
            <a:r>
              <a:rPr lang="ja-JP" altLang="en-US" sz="2000" dirty="0">
                <a:latin typeface="BIZ UDPゴシック" panose="020B0400000000000000" pitchFamily="50" charset="-128"/>
                <a:ea typeface="BIZ UDPゴシック" panose="020B0400000000000000" pitchFamily="50" charset="-128"/>
              </a:rPr>
              <a:t>を使うことも大事だが・・</a:t>
            </a:r>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a:latin typeface="BIZ UDPゴシック" panose="020B0400000000000000" pitchFamily="50" charset="-128"/>
                <a:ea typeface="BIZ UDPゴシック" panose="020B0400000000000000" pitchFamily="50" charset="-128"/>
              </a:rPr>
              <a:t>　　　　　 　一生懸命考えることで自分のアイデアが思いつく　→ 頑張って形にできたときの達成感！</a:t>
            </a:r>
            <a:endParaRPr lang="en-US" altLang="ja-JP" sz="20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endParaRPr lang="en-US" altLang="ja-JP" sz="2400" dirty="0">
              <a:latin typeface="BIZ UDPゴシック" panose="020B0400000000000000" pitchFamily="50" charset="-128"/>
              <a:ea typeface="BIZ UDPゴシック" panose="020B0400000000000000" pitchFamily="50" charset="-128"/>
            </a:endParaRPr>
          </a:p>
          <a:p>
            <a:r>
              <a:rPr lang="ja-JP" altLang="en-US" sz="2800" dirty="0">
                <a:latin typeface="BIZ UDPゴシック" panose="020B0400000000000000" pitchFamily="50" charset="-128"/>
                <a:ea typeface="BIZ UDPゴシック" panose="020B0400000000000000" pitchFamily="50" charset="-128"/>
              </a:rPr>
              <a:t>　②抱え込みすぎず、誰かに助けを求めること</a:t>
            </a:r>
            <a:endParaRPr lang="en-US" altLang="ja-JP" sz="28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解決したときの喜びを誰かと共有することで、プログラミングのモチベーションに</a:t>
            </a:r>
            <a:endParaRPr lang="en-US" altLang="ja-JP" sz="20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a:t>
            </a:r>
            <a:r>
              <a:rPr lang="ja-JP" altLang="en-US" sz="2000" dirty="0">
                <a:latin typeface="BIZ UDPゴシック" panose="020B0400000000000000" pitchFamily="50" charset="-128"/>
                <a:ea typeface="BIZ UDPゴシック" panose="020B0400000000000000" pitchFamily="50" charset="-128"/>
              </a:rPr>
              <a:t>　　困り事を一緒に解決して、一緒に喜びたい！</a:t>
            </a:r>
            <a:endParaRPr lang="en-US" altLang="ja-JP" sz="2400" dirty="0">
              <a:latin typeface="BIZ UDPゴシック" panose="020B0400000000000000" pitchFamily="50" charset="-128"/>
              <a:ea typeface="BIZ UDPゴシック" panose="020B0400000000000000" pitchFamily="50" charset="-128"/>
            </a:endParaRPr>
          </a:p>
          <a:p>
            <a:endParaRPr lang="en-US" altLang="ja-JP" sz="2800" u="sng" dirty="0">
              <a:latin typeface="BIZ UDPゴシック" panose="020B0400000000000000" pitchFamily="50" charset="-128"/>
              <a:ea typeface="BIZ UDPゴシック" panose="020B0400000000000000" pitchFamily="50" charset="-128"/>
            </a:endParaRPr>
          </a:p>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・部内組付作業の不具合発生状況（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　　　</a:t>
            </a:r>
            <a:r>
              <a:rPr lang="ja-JP" altLang="en-US" sz="2000" dirty="0">
                <a:latin typeface="BIZ UDPゴシック" panose="020B0400000000000000" pitchFamily="50" charset="-128"/>
                <a:ea typeface="BIZ UDPゴシック" panose="020B0400000000000000" pitchFamily="50" charset="-128"/>
              </a:rPr>
              <a:t>→次ページ　</a:t>
            </a:r>
            <a:endParaRPr lang="en-US" altLang="ja-JP" sz="2000" dirty="0">
              <a:latin typeface="BIZ UDPゴシック" panose="020B0400000000000000" pitchFamily="50" charset="-128"/>
              <a:ea typeface="BIZ UDPゴシック" panose="020B0400000000000000" pitchFamily="50" charset="-128"/>
            </a:endParaRPr>
          </a:p>
          <a:p>
            <a:endParaRPr lang="en-US" altLang="ja-JP" sz="20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17046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76D7-C89F-F288-BFBF-B203EF27C9E7}"/>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01D1114-FC27-9874-7702-84FCD5A041DF}"/>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511E6DEC-9C9C-7C6B-BA74-BAD4C3530736}"/>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pic>
        <p:nvPicPr>
          <p:cNvPr id="3" name="図 2">
            <a:extLst>
              <a:ext uri="{FF2B5EF4-FFF2-40B4-BE49-F238E27FC236}">
                <a16:creationId xmlns:a16="http://schemas.microsoft.com/office/drawing/2014/main" id="{714633E4-BB8B-AA96-9765-483749FB473D}"/>
              </a:ext>
            </a:extLst>
          </p:cNvPr>
          <p:cNvPicPr>
            <a:picLocks noChangeAspect="1"/>
          </p:cNvPicPr>
          <p:nvPr/>
        </p:nvPicPr>
        <p:blipFill>
          <a:blip r:embed="rId2"/>
          <a:stretch>
            <a:fillRect/>
          </a:stretch>
        </p:blipFill>
        <p:spPr>
          <a:xfrm>
            <a:off x="600303" y="1554916"/>
            <a:ext cx="4780893" cy="2692030"/>
          </a:xfrm>
          <a:prstGeom prst="rect">
            <a:avLst/>
          </a:prstGeom>
        </p:spPr>
      </p:pic>
      <p:sp>
        <p:nvSpPr>
          <p:cNvPr id="8" name="テキスト ボックス 7">
            <a:extLst>
              <a:ext uri="{FF2B5EF4-FFF2-40B4-BE49-F238E27FC236}">
                <a16:creationId xmlns:a16="http://schemas.microsoft.com/office/drawing/2014/main" id="{DCA3884E-6FC8-1357-EF75-02693A724493}"/>
              </a:ext>
            </a:extLst>
          </p:cNvPr>
          <p:cNvSpPr txBox="1"/>
          <p:nvPr/>
        </p:nvSpPr>
        <p:spPr>
          <a:xfrm>
            <a:off x="6810805" y="2165391"/>
            <a:ext cx="5310076" cy="830997"/>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去年作った</a:t>
            </a:r>
            <a:r>
              <a:rPr lang="en-US" altLang="ja-JP" sz="2400" dirty="0">
                <a:latin typeface="BIZ UDPゴシック" panose="020B0400000000000000" pitchFamily="50" charset="-128"/>
                <a:ea typeface="BIZ UDPゴシック" panose="020B0400000000000000" pitchFamily="50" charset="-128"/>
              </a:rPr>
              <a:t>PowerBI</a:t>
            </a:r>
          </a:p>
          <a:p>
            <a:r>
              <a:rPr lang="ja-JP" altLang="en-US" sz="2400" dirty="0">
                <a:latin typeface="BIZ UDPゴシック" panose="020B0400000000000000" pitchFamily="50" charset="-128"/>
                <a:ea typeface="BIZ UDPゴシック" panose="020B0400000000000000" pitchFamily="50" charset="-128"/>
              </a:rPr>
              <a:t>不具合</a:t>
            </a:r>
            <a:r>
              <a:rPr lang="en-US" altLang="ja-JP" sz="2400" dirty="0">
                <a:latin typeface="BIZ UDPゴシック" panose="020B0400000000000000" pitchFamily="50" charset="-128"/>
                <a:ea typeface="BIZ UDPゴシック" panose="020B0400000000000000" pitchFamily="50" charset="-128"/>
              </a:rPr>
              <a:t>1</a:t>
            </a:r>
            <a:r>
              <a:rPr lang="ja-JP" altLang="en-US" sz="2400" dirty="0">
                <a:latin typeface="BIZ UDPゴシック" panose="020B0400000000000000" pitchFamily="50" charset="-128"/>
                <a:ea typeface="BIZ UDPゴシック" panose="020B0400000000000000" pitchFamily="50" charset="-128"/>
              </a:rPr>
              <a:t>件ごとの詳細しか分からない</a:t>
            </a:r>
            <a:endParaRPr lang="en-US" altLang="ja-JP" sz="2400" dirty="0">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027A773B-64DB-106B-FCAB-148A66198E01}"/>
              </a:ext>
            </a:extLst>
          </p:cNvPr>
          <p:cNvSpPr/>
          <p:nvPr/>
        </p:nvSpPr>
        <p:spPr>
          <a:xfrm>
            <a:off x="1325223" y="5159465"/>
            <a:ext cx="9541551" cy="10579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BIZ UDPゴシック" panose="020B0400000000000000" pitchFamily="50" charset="-128"/>
                <a:ea typeface="BIZ UDPゴシック" panose="020B0400000000000000" pitchFamily="50" charset="-128"/>
              </a:rPr>
              <a:t>具体的にどこの工程で多く発生しているのか？</a:t>
            </a:r>
            <a:endParaRPr kumimoji="1" lang="en-US" altLang="ja-JP" sz="2000" dirty="0">
              <a:latin typeface="BIZ UDPゴシック" panose="020B0400000000000000" pitchFamily="50" charset="-128"/>
              <a:ea typeface="BIZ UDPゴシック" panose="020B0400000000000000" pitchFamily="50" charset="-128"/>
            </a:endParaRPr>
          </a:p>
          <a:p>
            <a:pPr algn="ctr"/>
            <a:r>
              <a:rPr lang="ja-JP" altLang="en-US" sz="2000" dirty="0">
                <a:latin typeface="BIZ UDPゴシック" panose="020B0400000000000000" pitchFamily="50" charset="-128"/>
                <a:ea typeface="BIZ UDPゴシック" panose="020B0400000000000000" pitchFamily="50" charset="-128"/>
              </a:rPr>
              <a:t>その内容は？作った立場として知りたかった</a:t>
            </a:r>
            <a:endParaRPr kumimoji="1" lang="ja-JP" altLang="en-US" sz="2000" dirty="0">
              <a:latin typeface="BIZ UDPゴシック" panose="020B0400000000000000" pitchFamily="50" charset="-128"/>
              <a:ea typeface="BIZ UDPゴシック" panose="020B0400000000000000" pitchFamily="50" charset="-128"/>
            </a:endParaRPr>
          </a:p>
        </p:txBody>
      </p:sp>
      <p:sp>
        <p:nvSpPr>
          <p:cNvPr id="2" name="テキスト ボックス 1">
            <a:extLst>
              <a:ext uri="{FF2B5EF4-FFF2-40B4-BE49-F238E27FC236}">
                <a16:creationId xmlns:a16="http://schemas.microsoft.com/office/drawing/2014/main" id="{92EA95E2-82F3-2625-5F08-B2F53B86F1F3}"/>
              </a:ext>
            </a:extLst>
          </p:cNvPr>
          <p:cNvSpPr txBox="1"/>
          <p:nvPr/>
        </p:nvSpPr>
        <p:spPr>
          <a:xfrm>
            <a:off x="659795" y="4246946"/>
            <a:ext cx="4780892" cy="615553"/>
          </a:xfrm>
          <a:prstGeom prst="rect">
            <a:avLst/>
          </a:prstGeom>
          <a:noFill/>
        </p:spPr>
        <p:txBody>
          <a:bodyPr wrap="square" rtlCol="0">
            <a:spAutoFit/>
          </a:bodyPr>
          <a:lstStyle/>
          <a:p>
            <a:pPr algn="ctr"/>
            <a:r>
              <a:rPr lang="ja-JP" altLang="en-US" u="sng" dirty="0"/>
              <a:t>不具合発生状況</a:t>
            </a:r>
            <a:r>
              <a:rPr lang="en-US" altLang="ja-JP" u="sng" dirty="0"/>
              <a:t>.pbix</a:t>
            </a:r>
          </a:p>
          <a:p>
            <a:pPr algn="ctr"/>
            <a:r>
              <a:rPr lang="ja-JP" altLang="en-US" sz="1600" dirty="0"/>
              <a:t>（組付作業時の不具合を集計）</a:t>
            </a:r>
            <a:endParaRPr kumimoji="1" lang="ja-JP" altLang="en-US" sz="1600" dirty="0"/>
          </a:p>
        </p:txBody>
      </p:sp>
      <p:sp>
        <p:nvSpPr>
          <p:cNvPr id="7" name="矢印: 右 6">
            <a:extLst>
              <a:ext uri="{FF2B5EF4-FFF2-40B4-BE49-F238E27FC236}">
                <a16:creationId xmlns:a16="http://schemas.microsoft.com/office/drawing/2014/main" id="{58B8822E-9C4B-7E31-A53B-4036F7556953}"/>
              </a:ext>
            </a:extLst>
          </p:cNvPr>
          <p:cNvSpPr/>
          <p:nvPr/>
        </p:nvSpPr>
        <p:spPr>
          <a:xfrm rot="10800000">
            <a:off x="5440687" y="2260851"/>
            <a:ext cx="1148080" cy="6400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948493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50EE-A48A-1A80-14F0-9A32E500292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3EEF279-CAAE-3A1D-27B6-48D47A5B49A9}"/>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F67DE6AB-2195-3C74-4717-E0D3057B3BED}"/>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E74E2F8-D2E0-7DC8-76FD-F441F9CD374E}"/>
              </a:ext>
            </a:extLst>
          </p:cNvPr>
          <p:cNvSpPr txBox="1"/>
          <p:nvPr/>
        </p:nvSpPr>
        <p:spPr>
          <a:xfrm>
            <a:off x="884904" y="1529658"/>
            <a:ext cx="4247534"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Step1</a:t>
            </a:r>
            <a:r>
              <a:rPr lang="en-US" altLang="ja-JP" dirty="0">
                <a:latin typeface="BIZ UDPゴシック" panose="020B0400000000000000" pitchFamily="50" charset="-128"/>
                <a:ea typeface="BIZ UDPゴシック" panose="020B0400000000000000" pitchFamily="50" charset="-128"/>
              </a:rPr>
              <a:t> : </a:t>
            </a:r>
            <a:r>
              <a:rPr kumimoji="1" lang="ja-JP" altLang="en-US" dirty="0">
                <a:latin typeface="BIZ UDPゴシック" panose="020B0400000000000000" pitchFamily="50" charset="-128"/>
                <a:ea typeface="BIZ UDPゴシック" panose="020B0400000000000000" pitchFamily="50" charset="-128"/>
              </a:rPr>
              <a:t>工程別にグラフ化</a:t>
            </a:r>
            <a:endParaRPr kumimoji="1"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124214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52B5-3B34-19CB-993B-18B2F97542B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CF62CA2F-D28F-DAE8-5E74-26D9643FBF8E}"/>
              </a:ext>
            </a:extLst>
          </p:cNvPr>
          <p:cNvPicPr>
            <a:picLocks noChangeAspect="1"/>
          </p:cNvPicPr>
          <p:nvPr/>
        </p:nvPicPr>
        <p:blipFill>
          <a:blip r:embed="rId2"/>
          <a:stretch>
            <a:fillRect/>
          </a:stretch>
        </p:blipFill>
        <p:spPr>
          <a:xfrm>
            <a:off x="1671484" y="2111498"/>
            <a:ext cx="5721152" cy="32168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31EAA8AB-8DA8-5FFA-79DC-0EF9017E9BB4}"/>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950970AF-F1B3-432C-A970-105B0C239F00}"/>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sp>
        <p:nvSpPr>
          <p:cNvPr id="15" name="矢印: 右 14">
            <a:extLst>
              <a:ext uri="{FF2B5EF4-FFF2-40B4-BE49-F238E27FC236}">
                <a16:creationId xmlns:a16="http://schemas.microsoft.com/office/drawing/2014/main" id="{6EA9CEDD-6271-4808-CCE7-38C8A4619D26}"/>
              </a:ext>
            </a:extLst>
          </p:cNvPr>
          <p:cNvSpPr/>
          <p:nvPr/>
        </p:nvSpPr>
        <p:spPr>
          <a:xfrm>
            <a:off x="5277629" y="5637062"/>
            <a:ext cx="1148080" cy="6400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テキスト ボックス 15">
            <a:extLst>
              <a:ext uri="{FF2B5EF4-FFF2-40B4-BE49-F238E27FC236}">
                <a16:creationId xmlns:a16="http://schemas.microsoft.com/office/drawing/2014/main" id="{176E2B52-8926-50D4-C4C7-18963B9E40F3}"/>
              </a:ext>
            </a:extLst>
          </p:cNvPr>
          <p:cNvSpPr txBox="1"/>
          <p:nvPr/>
        </p:nvSpPr>
        <p:spPr>
          <a:xfrm>
            <a:off x="6425709" y="5587770"/>
            <a:ext cx="5410692" cy="738664"/>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「総組付」で不具合が多く発生</a:t>
            </a:r>
            <a:endParaRPr lang="en-US" altLang="ja-JP" sz="2400" dirty="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→次ステップ：総組付に絞ってグラフ作成 </a:t>
            </a:r>
            <a:r>
              <a:rPr lang="en-US" altLang="ja-JP" dirty="0">
                <a:latin typeface="BIZ UDPゴシック" panose="020B0400000000000000" pitchFamily="50" charset="-128"/>
                <a:ea typeface="BIZ UDPゴシック" panose="020B0400000000000000" pitchFamily="50" charset="-128"/>
              </a:rPr>
              <a:t>&amp; </a:t>
            </a:r>
            <a:r>
              <a:rPr lang="ja-JP" altLang="en-US" dirty="0">
                <a:latin typeface="BIZ UDPゴシック" panose="020B0400000000000000" pitchFamily="50" charset="-128"/>
                <a:ea typeface="BIZ UDPゴシック" panose="020B0400000000000000" pitchFamily="50" charset="-128"/>
              </a:rPr>
              <a:t>分析・・</a:t>
            </a:r>
            <a:endParaRPr lang="en-US" altLang="ja-JP" dirty="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DAFEDE40-740E-243C-C552-BD46C28A8B9C}"/>
              </a:ext>
            </a:extLst>
          </p:cNvPr>
          <p:cNvSpPr txBox="1"/>
          <p:nvPr/>
        </p:nvSpPr>
        <p:spPr>
          <a:xfrm>
            <a:off x="884904" y="1529658"/>
            <a:ext cx="4247534"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Step1</a:t>
            </a:r>
            <a:r>
              <a:rPr lang="en-US" altLang="ja-JP" dirty="0">
                <a:latin typeface="BIZ UDPゴシック" panose="020B0400000000000000" pitchFamily="50" charset="-128"/>
                <a:ea typeface="BIZ UDPゴシック" panose="020B0400000000000000" pitchFamily="50" charset="-128"/>
              </a:rPr>
              <a:t> : </a:t>
            </a:r>
            <a:r>
              <a:rPr kumimoji="1" lang="ja-JP" altLang="en-US" dirty="0">
                <a:latin typeface="BIZ UDPゴシック" panose="020B0400000000000000" pitchFamily="50" charset="-128"/>
                <a:ea typeface="BIZ UDPゴシック" panose="020B0400000000000000" pitchFamily="50" charset="-128"/>
              </a:rPr>
              <a:t>工程別にグラフ化</a:t>
            </a:r>
            <a:endParaRPr kumimoji="1" lang="en-US" altLang="ja-JP"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A54FD475-665A-D638-2779-F22FA68EB330}"/>
              </a:ext>
            </a:extLst>
          </p:cNvPr>
          <p:cNvSpPr txBox="1"/>
          <p:nvPr/>
        </p:nvSpPr>
        <p:spPr>
          <a:xfrm>
            <a:off x="8141110" y="2546555"/>
            <a:ext cx="3283974" cy="2062103"/>
          </a:xfrm>
          <a:prstGeom prst="rect">
            <a:avLst/>
          </a:prstGeom>
          <a:noFill/>
        </p:spPr>
        <p:txBody>
          <a:bodyPr wrap="square" rtlCol="0">
            <a:spAutoFit/>
          </a:bodyPr>
          <a:lstStyle/>
          <a:p>
            <a:r>
              <a:rPr kumimoji="1" lang="en-US" altLang="ja-JP" sz="3200" dirty="0">
                <a:latin typeface="BIZ UDPゴシック" panose="020B0400000000000000" pitchFamily="50" charset="-128"/>
                <a:ea typeface="BIZ UDPゴシック" panose="020B0400000000000000" pitchFamily="50" charset="-128"/>
              </a:rPr>
              <a:t>1,</a:t>
            </a:r>
            <a:r>
              <a:rPr kumimoji="1" lang="ja-JP" altLang="en-US" sz="3200" dirty="0">
                <a:latin typeface="BIZ UDPゴシック" panose="020B0400000000000000" pitchFamily="50" charset="-128"/>
                <a:ea typeface="BIZ UDPゴシック" panose="020B0400000000000000" pitchFamily="50" charset="-128"/>
              </a:rPr>
              <a:t>総組付</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2,SE</a:t>
            </a:r>
          </a:p>
          <a:p>
            <a:r>
              <a:rPr kumimoji="1" lang="en-US" altLang="ja-JP" sz="3200" dirty="0">
                <a:latin typeface="BIZ UDPゴシック" panose="020B0400000000000000" pitchFamily="50" charset="-128"/>
                <a:ea typeface="BIZ UDPゴシック" panose="020B0400000000000000" pitchFamily="50" charset="-128"/>
              </a:rPr>
              <a:t>3,</a:t>
            </a:r>
            <a:r>
              <a:rPr kumimoji="1" lang="ja-JP" altLang="en-US" sz="3200" dirty="0">
                <a:latin typeface="BIZ UDPゴシック" panose="020B0400000000000000" pitchFamily="50" charset="-128"/>
                <a:ea typeface="BIZ UDPゴシック" panose="020B0400000000000000" pitchFamily="50" charset="-128"/>
              </a:rPr>
              <a:t>ユニット組付</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        </a:t>
            </a:r>
            <a:r>
              <a:rPr lang="ja-JP" altLang="en-US" sz="3200" dirty="0">
                <a:latin typeface="BIZ UDPゴシック" panose="020B0400000000000000" pitchFamily="50" charset="-128"/>
                <a:ea typeface="BIZ UDPゴシック" panose="020B0400000000000000" pitchFamily="50" charset="-128"/>
              </a:rPr>
              <a:t>：</a:t>
            </a:r>
            <a:endParaRPr kumimoji="1" lang="ja-JP" altLang="en-US" sz="3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0811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55888-DB0E-7106-53F4-AFDED07614E0}"/>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E3C0DD4-736E-B4D6-6BE2-C7BE8E499190}"/>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6B8CA28D-287C-3589-68C6-5519AE2751D0}"/>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A6FA7583-3B8C-3851-4AA0-0BD37CF89458}"/>
              </a:ext>
            </a:extLst>
          </p:cNvPr>
          <p:cNvSpPr txBox="1"/>
          <p:nvPr/>
        </p:nvSpPr>
        <p:spPr>
          <a:xfrm>
            <a:off x="884903" y="1529658"/>
            <a:ext cx="5692878"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Step2</a:t>
            </a:r>
            <a:r>
              <a:rPr lang="en-US" altLang="ja-JP" dirty="0">
                <a:latin typeface="BIZ UDPゴシック" panose="020B0400000000000000" pitchFamily="50" charset="-128"/>
                <a:ea typeface="BIZ UDPゴシック" panose="020B0400000000000000" pitchFamily="50" charset="-128"/>
              </a:rPr>
              <a:t> : </a:t>
            </a:r>
            <a:r>
              <a:rPr lang="ja-JP" altLang="en-US" dirty="0">
                <a:latin typeface="BIZ UDPゴシック" panose="020B0400000000000000" pitchFamily="50" charset="-128"/>
                <a:ea typeface="BIZ UDPゴシック" panose="020B0400000000000000" pitchFamily="50" charset="-128"/>
              </a:rPr>
              <a:t>工程「総組付」の不具合内容別にグラフ化</a:t>
            </a:r>
            <a:endParaRPr kumimoji="1"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204042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A29E-AF74-CD39-FB7A-E59E275516C8}"/>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1811F21C-9102-EC49-B6F3-B3B3BE9E2FD4}"/>
              </a:ext>
            </a:extLst>
          </p:cNvPr>
          <p:cNvPicPr>
            <a:picLocks noChangeAspect="1"/>
          </p:cNvPicPr>
          <p:nvPr/>
        </p:nvPicPr>
        <p:blipFill>
          <a:blip r:embed="rId2"/>
          <a:stretch>
            <a:fillRect/>
          </a:stretch>
        </p:blipFill>
        <p:spPr>
          <a:xfrm>
            <a:off x="1543661" y="2048290"/>
            <a:ext cx="5816953" cy="3270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4EEC9869-AA3E-92F7-8F28-ED4F3B9F183A}"/>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6" name="矢印: 右 5">
            <a:extLst>
              <a:ext uri="{FF2B5EF4-FFF2-40B4-BE49-F238E27FC236}">
                <a16:creationId xmlns:a16="http://schemas.microsoft.com/office/drawing/2014/main" id="{AC8CE688-3234-D8B9-3C45-97DBA846D0CB}"/>
              </a:ext>
            </a:extLst>
          </p:cNvPr>
          <p:cNvSpPr/>
          <p:nvPr/>
        </p:nvSpPr>
        <p:spPr>
          <a:xfrm>
            <a:off x="5277629" y="5637062"/>
            <a:ext cx="1148080" cy="6400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CA6E7883-4B1A-95BC-9B1A-7FEA8545FBB7}"/>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516D2D79-8A61-C40E-6891-22AAA8928594}"/>
              </a:ext>
            </a:extLst>
          </p:cNvPr>
          <p:cNvSpPr txBox="1"/>
          <p:nvPr/>
        </p:nvSpPr>
        <p:spPr>
          <a:xfrm>
            <a:off x="6425709" y="5587770"/>
            <a:ext cx="5410692" cy="1138773"/>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「設計不良」が最多</a:t>
            </a:r>
            <a:endParaRPr lang="en-US" altLang="ja-JP" sz="2400" dirty="0">
              <a:latin typeface="BIZ UDPゴシック" panose="020B0400000000000000" pitchFamily="50" charset="-128"/>
              <a:ea typeface="BIZ UDPゴシック" panose="020B0400000000000000" pitchFamily="50" charset="-128"/>
            </a:endParaRPr>
          </a:p>
          <a:p>
            <a:r>
              <a:rPr lang="en-US" altLang="ja-JP" sz="2400" dirty="0">
                <a:latin typeface="BIZ UDPゴシック" panose="020B0400000000000000" pitchFamily="50" charset="-128"/>
                <a:ea typeface="BIZ UDPゴシック" panose="020B0400000000000000" pitchFamily="50" charset="-128"/>
              </a:rPr>
              <a:t>2</a:t>
            </a:r>
            <a:r>
              <a:rPr lang="ja-JP" altLang="en-US" sz="2400" dirty="0">
                <a:latin typeface="BIZ UDPゴシック" panose="020B0400000000000000" pitchFamily="50" charset="-128"/>
                <a:ea typeface="BIZ UDPゴシック" panose="020B0400000000000000" pitchFamily="50" charset="-128"/>
              </a:rPr>
              <a:t>番目も「ポカミス」　</a:t>
            </a:r>
            <a:r>
              <a:rPr lang="ja-JP" altLang="en-US" sz="2000" dirty="0">
                <a:latin typeface="BIZ UDPゴシック" panose="020B0400000000000000" pitchFamily="50" charset="-128"/>
                <a:ea typeface="BIZ UDPゴシック" panose="020B0400000000000000" pitchFamily="50" charset="-128"/>
              </a:rPr>
              <a:t>もっと分析できそう・・</a:t>
            </a:r>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続きは自業務で・・</a:t>
            </a:r>
            <a:endParaRPr lang="en-US" altLang="ja-JP" sz="1400"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C7AE9D00-D252-443E-25B2-0825D15EC88D}"/>
              </a:ext>
            </a:extLst>
          </p:cNvPr>
          <p:cNvSpPr txBox="1"/>
          <p:nvPr/>
        </p:nvSpPr>
        <p:spPr>
          <a:xfrm>
            <a:off x="884903" y="1529658"/>
            <a:ext cx="5692878"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Step2</a:t>
            </a:r>
            <a:r>
              <a:rPr lang="en-US" altLang="ja-JP" dirty="0">
                <a:latin typeface="BIZ UDPゴシック" panose="020B0400000000000000" pitchFamily="50" charset="-128"/>
                <a:ea typeface="BIZ UDPゴシック" panose="020B0400000000000000" pitchFamily="50" charset="-128"/>
              </a:rPr>
              <a:t> : </a:t>
            </a:r>
            <a:r>
              <a:rPr lang="ja-JP" altLang="en-US" dirty="0">
                <a:latin typeface="BIZ UDPゴシック" panose="020B0400000000000000" pitchFamily="50" charset="-128"/>
                <a:ea typeface="BIZ UDPゴシック" panose="020B0400000000000000" pitchFamily="50" charset="-128"/>
              </a:rPr>
              <a:t>工程「総組付」の不具合内容別にグラフ化</a:t>
            </a:r>
            <a:endParaRPr kumimoji="1" lang="en-US" altLang="ja-JP"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B315D6EA-CE8D-0AC9-B0F0-619469118F8B}"/>
              </a:ext>
            </a:extLst>
          </p:cNvPr>
          <p:cNvSpPr txBox="1"/>
          <p:nvPr/>
        </p:nvSpPr>
        <p:spPr>
          <a:xfrm>
            <a:off x="8141110" y="2546555"/>
            <a:ext cx="3283974" cy="2062103"/>
          </a:xfrm>
          <a:prstGeom prst="rect">
            <a:avLst/>
          </a:prstGeom>
          <a:noFill/>
        </p:spPr>
        <p:txBody>
          <a:bodyPr wrap="square" rtlCol="0">
            <a:spAutoFit/>
          </a:bodyPr>
          <a:lstStyle/>
          <a:p>
            <a:r>
              <a:rPr kumimoji="1" lang="en-US" altLang="ja-JP" sz="3200" dirty="0">
                <a:latin typeface="BIZ UDPゴシック" panose="020B0400000000000000" pitchFamily="50" charset="-128"/>
                <a:ea typeface="BIZ UDPゴシック" panose="020B0400000000000000" pitchFamily="50" charset="-128"/>
              </a:rPr>
              <a:t>1,</a:t>
            </a:r>
            <a:r>
              <a:rPr lang="ja-JP" altLang="en-US" sz="3200" dirty="0">
                <a:latin typeface="BIZ UDPゴシック" panose="020B0400000000000000" pitchFamily="50" charset="-128"/>
                <a:ea typeface="BIZ UDPゴシック" panose="020B0400000000000000" pitchFamily="50" charset="-128"/>
              </a:rPr>
              <a:t>設計不良</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2,</a:t>
            </a:r>
            <a:r>
              <a:rPr lang="ja-JP" altLang="en-US" sz="3200" dirty="0">
                <a:latin typeface="BIZ UDPゴシック" panose="020B0400000000000000" pitchFamily="50" charset="-128"/>
                <a:ea typeface="BIZ UDPゴシック" panose="020B0400000000000000" pitchFamily="50" charset="-128"/>
              </a:rPr>
              <a:t>ポカミス</a:t>
            </a:r>
            <a:endParaRPr lang="en-US" altLang="ja-JP" sz="3200" dirty="0">
              <a:latin typeface="BIZ UDPゴシック" panose="020B0400000000000000" pitchFamily="50" charset="-128"/>
              <a:ea typeface="BIZ UDPゴシック" panose="020B0400000000000000" pitchFamily="50" charset="-128"/>
            </a:endParaRPr>
          </a:p>
          <a:p>
            <a:r>
              <a:rPr kumimoji="1" lang="en-US" altLang="ja-JP" sz="3200" dirty="0">
                <a:latin typeface="BIZ UDPゴシック" panose="020B0400000000000000" pitchFamily="50" charset="-128"/>
                <a:ea typeface="BIZ UDPゴシック" panose="020B0400000000000000" pitchFamily="50" charset="-128"/>
              </a:rPr>
              <a:t>3,</a:t>
            </a:r>
            <a:r>
              <a:rPr kumimoji="1" lang="ja-JP" altLang="en-US" sz="3200" dirty="0">
                <a:latin typeface="BIZ UDPゴシック" panose="020B0400000000000000" pitchFamily="50" charset="-128"/>
                <a:ea typeface="BIZ UDPゴシック" panose="020B0400000000000000" pitchFamily="50" charset="-128"/>
              </a:rPr>
              <a:t>組付不良</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        </a:t>
            </a:r>
            <a:r>
              <a:rPr lang="ja-JP" altLang="en-US" sz="3200" dirty="0">
                <a:latin typeface="BIZ UDPゴシック" panose="020B0400000000000000" pitchFamily="50" charset="-128"/>
                <a:ea typeface="BIZ UDPゴシック" panose="020B0400000000000000" pitchFamily="50" charset="-128"/>
              </a:rPr>
              <a:t>：</a:t>
            </a:r>
            <a:endParaRPr kumimoji="1" lang="ja-JP" altLang="en-US" sz="3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71992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F739-7C05-CC13-A63A-E15DBCB2B3C2}"/>
            </a:ext>
          </a:extLst>
        </p:cNvPr>
        <p:cNvGrpSpPr/>
        <p:nvPr/>
      </p:nvGrpSpPr>
      <p:grpSpPr>
        <a:xfrm>
          <a:off x="0" y="0"/>
          <a:ext cx="0" cy="0"/>
          <a:chOff x="0" y="0"/>
          <a:chExt cx="0" cy="0"/>
        </a:xfrm>
      </p:grpSpPr>
      <p:pic>
        <p:nvPicPr>
          <p:cNvPr id="14" name="図 13">
            <a:extLst>
              <a:ext uri="{FF2B5EF4-FFF2-40B4-BE49-F238E27FC236}">
                <a16:creationId xmlns:a16="http://schemas.microsoft.com/office/drawing/2014/main" id="{0A188D70-C0E7-6D5A-29C7-1B8D2864EE9E}"/>
              </a:ext>
            </a:extLst>
          </p:cNvPr>
          <p:cNvPicPr>
            <a:picLocks noChangeAspect="1"/>
          </p:cNvPicPr>
          <p:nvPr/>
        </p:nvPicPr>
        <p:blipFill>
          <a:blip r:embed="rId2"/>
          <a:stretch>
            <a:fillRect/>
          </a:stretch>
        </p:blipFill>
        <p:spPr>
          <a:xfrm>
            <a:off x="1543661" y="2048290"/>
            <a:ext cx="5816953" cy="32707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テキスト ボックス 3">
            <a:extLst>
              <a:ext uri="{FF2B5EF4-FFF2-40B4-BE49-F238E27FC236}">
                <a16:creationId xmlns:a16="http://schemas.microsoft.com/office/drawing/2014/main" id="{80F5C60E-CD48-8049-76D4-63B4E90444F0}"/>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6" name="矢印: 右 5">
            <a:extLst>
              <a:ext uri="{FF2B5EF4-FFF2-40B4-BE49-F238E27FC236}">
                <a16:creationId xmlns:a16="http://schemas.microsoft.com/office/drawing/2014/main" id="{708D51B0-D567-C0F7-27BC-621CBFA9A5AC}"/>
              </a:ext>
            </a:extLst>
          </p:cNvPr>
          <p:cNvSpPr/>
          <p:nvPr/>
        </p:nvSpPr>
        <p:spPr>
          <a:xfrm>
            <a:off x="5277629" y="5637062"/>
            <a:ext cx="1148080" cy="6400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14935A59-CDD6-9F59-66DC-D5DAC7A10344}"/>
              </a:ext>
            </a:extLst>
          </p:cNvPr>
          <p:cNvSpPr txBox="1"/>
          <p:nvPr/>
        </p:nvSpPr>
        <p:spPr>
          <a:xfrm>
            <a:off x="434585" y="496168"/>
            <a:ext cx="11322829" cy="892552"/>
          </a:xfrm>
          <a:prstGeom prst="rect">
            <a:avLst/>
          </a:prstGeom>
          <a:noFill/>
        </p:spPr>
        <p:txBody>
          <a:bodyPr wrap="square" rtlCol="0">
            <a:spAutoFit/>
          </a:bodyPr>
          <a:lstStyle/>
          <a:p>
            <a:r>
              <a:rPr lang="ja-JP" altLang="en-US" sz="2800" u="sng" dirty="0">
                <a:latin typeface="BIZ UDPゴシック" panose="020B0400000000000000" pitchFamily="50" charset="-128"/>
                <a:ea typeface="BIZ UDPゴシック" panose="020B0400000000000000" pitchFamily="50" charset="-128"/>
              </a:rPr>
              <a:t>＜取り組んでみたこと＞</a:t>
            </a:r>
            <a:endParaRPr lang="en-US" altLang="ja-JP" sz="2800" u="sng"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　・組付作業の不具合発生状況（</a:t>
            </a:r>
            <a:r>
              <a:rPr lang="en-US" altLang="ja-JP" sz="2400" dirty="0">
                <a:latin typeface="BIZ UDPゴシック" panose="020B0400000000000000" pitchFamily="50" charset="-128"/>
                <a:ea typeface="BIZ UDPゴシック" panose="020B0400000000000000" pitchFamily="50" charset="-128"/>
              </a:rPr>
              <a:t>csv</a:t>
            </a:r>
            <a:r>
              <a:rPr lang="ja-JP" altLang="en-US" sz="2400" dirty="0">
                <a:latin typeface="BIZ UDPゴシック" panose="020B0400000000000000" pitchFamily="50" charset="-128"/>
                <a:ea typeface="BIZ UDPゴシック" panose="020B0400000000000000" pitchFamily="50" charset="-128"/>
              </a:rPr>
              <a:t>）のグラフ化 </a:t>
            </a:r>
            <a:r>
              <a:rPr lang="en-US" altLang="ja-JP" sz="2400" dirty="0">
                <a:latin typeface="BIZ UDPゴシック" panose="020B0400000000000000" pitchFamily="50" charset="-128"/>
                <a:ea typeface="BIZ UDPゴシック" panose="020B0400000000000000" pitchFamily="50" charset="-128"/>
              </a:rPr>
              <a:t>&amp; </a:t>
            </a:r>
            <a:r>
              <a:rPr lang="ja-JP" altLang="en-US" sz="2400" dirty="0">
                <a:latin typeface="BIZ UDPゴシック" panose="020B0400000000000000" pitchFamily="50" charset="-128"/>
                <a:ea typeface="BIZ UDPゴシック" panose="020B0400000000000000" pitchFamily="50" charset="-128"/>
              </a:rPr>
              <a:t>分析</a:t>
            </a:r>
            <a:endParaRPr lang="en-US" altLang="ja-JP" sz="240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BFF321DD-3113-CA96-6E08-C9E77791C886}"/>
              </a:ext>
            </a:extLst>
          </p:cNvPr>
          <p:cNvSpPr txBox="1"/>
          <p:nvPr/>
        </p:nvSpPr>
        <p:spPr>
          <a:xfrm>
            <a:off x="6425709" y="5587770"/>
            <a:ext cx="5410692" cy="1138773"/>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「設計不良」が最多</a:t>
            </a:r>
            <a:endParaRPr lang="en-US" altLang="ja-JP" sz="2400" dirty="0">
              <a:latin typeface="BIZ UDPゴシック" panose="020B0400000000000000" pitchFamily="50" charset="-128"/>
              <a:ea typeface="BIZ UDPゴシック" panose="020B0400000000000000" pitchFamily="50" charset="-128"/>
            </a:endParaRPr>
          </a:p>
          <a:p>
            <a:r>
              <a:rPr lang="en-US" altLang="ja-JP" sz="2400" dirty="0">
                <a:latin typeface="BIZ UDPゴシック" panose="020B0400000000000000" pitchFamily="50" charset="-128"/>
                <a:ea typeface="BIZ UDPゴシック" panose="020B0400000000000000" pitchFamily="50" charset="-128"/>
              </a:rPr>
              <a:t>2</a:t>
            </a:r>
            <a:r>
              <a:rPr lang="ja-JP" altLang="en-US" sz="2400" dirty="0">
                <a:latin typeface="BIZ UDPゴシック" panose="020B0400000000000000" pitchFamily="50" charset="-128"/>
                <a:ea typeface="BIZ UDPゴシック" panose="020B0400000000000000" pitchFamily="50" charset="-128"/>
              </a:rPr>
              <a:t>番目も「ポカミス」　</a:t>
            </a:r>
            <a:r>
              <a:rPr lang="ja-JP" altLang="en-US" sz="2000" dirty="0">
                <a:latin typeface="BIZ UDPゴシック" panose="020B0400000000000000" pitchFamily="50" charset="-128"/>
                <a:ea typeface="BIZ UDPゴシック" panose="020B0400000000000000" pitchFamily="50" charset="-128"/>
              </a:rPr>
              <a:t>もっと分析できそう・・</a:t>
            </a:r>
            <a:endParaRPr lang="en-US" altLang="ja-JP" sz="2000" dirty="0">
              <a:latin typeface="BIZ UDPゴシック" panose="020B0400000000000000" pitchFamily="50" charset="-128"/>
              <a:ea typeface="BIZ UDPゴシック" panose="020B0400000000000000" pitchFamily="50" charset="-128"/>
            </a:endParaRPr>
          </a:p>
          <a:p>
            <a:r>
              <a:rPr lang="ja-JP" altLang="en-US" sz="20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続きは自業務で・・</a:t>
            </a:r>
            <a:endParaRPr lang="en-US" altLang="ja-JP" sz="1400" dirty="0">
              <a:latin typeface="BIZ UDPゴシック" panose="020B0400000000000000" pitchFamily="50" charset="-128"/>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0C42FFA8-86BE-A789-FB09-D48A6E16B39E}"/>
              </a:ext>
            </a:extLst>
          </p:cNvPr>
          <p:cNvSpPr/>
          <p:nvPr/>
        </p:nvSpPr>
        <p:spPr>
          <a:xfrm>
            <a:off x="216635" y="4405023"/>
            <a:ext cx="4778151" cy="21265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BIZ UDPゴシック" panose="020B0400000000000000" pitchFamily="50" charset="-128"/>
                <a:ea typeface="BIZ UDPゴシック" panose="020B0400000000000000" pitchFamily="50" charset="-128"/>
              </a:rPr>
              <a:t>不具合が多い部署を特定したいのではなく、</a:t>
            </a:r>
            <a:endParaRPr lang="en-US" altLang="ja-JP" dirty="0">
              <a:latin typeface="BIZ UDPゴシック" panose="020B0400000000000000" pitchFamily="50" charset="-128"/>
              <a:ea typeface="BIZ UDPゴシック" panose="020B0400000000000000" pitchFamily="50" charset="-128"/>
            </a:endParaRPr>
          </a:p>
          <a:p>
            <a:pPr algn="ctr"/>
            <a:r>
              <a:rPr lang="ja-JP" altLang="en-US" dirty="0">
                <a:latin typeface="BIZ UDPゴシック" panose="020B0400000000000000" pitchFamily="50" charset="-128"/>
                <a:ea typeface="BIZ UDPゴシック" panose="020B0400000000000000" pitchFamily="50" charset="-128"/>
              </a:rPr>
              <a:t>自業務は部内困り事のデジタル改善・・</a:t>
            </a:r>
            <a:endParaRPr kumimoji="1" lang="en-US" altLang="ja-JP" dirty="0">
              <a:latin typeface="BIZ UDPゴシック" panose="020B0400000000000000" pitchFamily="50" charset="-128"/>
              <a:ea typeface="BIZ UDPゴシック" panose="020B0400000000000000" pitchFamily="50" charset="-128"/>
            </a:endParaRPr>
          </a:p>
          <a:p>
            <a:pPr algn="ctr"/>
            <a:r>
              <a:rPr kumimoji="1" lang="ja-JP" altLang="en-US" dirty="0">
                <a:latin typeface="BIZ UDPゴシック" panose="020B0400000000000000" pitchFamily="50" charset="-128"/>
                <a:ea typeface="BIZ UDPゴシック" panose="020B0400000000000000" pitchFamily="50" charset="-128"/>
              </a:rPr>
              <a:t>もっと早くいいものを作るためには？</a:t>
            </a:r>
            <a:endParaRPr kumimoji="1" lang="en-US" altLang="ja-JP" dirty="0">
              <a:latin typeface="BIZ UDPゴシック" panose="020B0400000000000000" pitchFamily="50" charset="-128"/>
              <a:ea typeface="BIZ UDPゴシック" panose="020B0400000000000000" pitchFamily="50" charset="-128"/>
            </a:endParaRPr>
          </a:p>
          <a:p>
            <a:pPr algn="ctr"/>
            <a:r>
              <a:rPr lang="ja-JP" altLang="en-US" dirty="0">
                <a:latin typeface="BIZ UDPゴシック" panose="020B0400000000000000" pitchFamily="50" charset="-128"/>
                <a:ea typeface="BIZ UDPゴシック" panose="020B0400000000000000" pitchFamily="50" charset="-128"/>
              </a:rPr>
              <a:t>課題をデジタルで喜んでもらえるか？</a:t>
            </a:r>
            <a:endParaRPr lang="en-US" altLang="ja-JP" dirty="0">
              <a:latin typeface="BIZ UDPゴシック" panose="020B0400000000000000" pitchFamily="50" charset="-128"/>
              <a:ea typeface="BIZ UDPゴシック" panose="020B0400000000000000" pitchFamily="50" charset="-128"/>
            </a:endParaRPr>
          </a:p>
          <a:p>
            <a:pPr algn="ctr"/>
            <a:r>
              <a:rPr lang="ja-JP" altLang="en-US" dirty="0">
                <a:latin typeface="BIZ UDPゴシック" panose="020B0400000000000000" pitchFamily="50" charset="-128"/>
                <a:ea typeface="BIZ UDPゴシック" panose="020B0400000000000000" pitchFamily="50" charset="-128"/>
              </a:rPr>
              <a:t>を考えたいという思い</a:t>
            </a:r>
            <a:endParaRPr kumimoji="1" lang="en-US" altLang="ja-JP" dirty="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8976EDCD-B991-18C9-9437-CCB1EFE2344A}"/>
              </a:ext>
            </a:extLst>
          </p:cNvPr>
          <p:cNvSpPr txBox="1"/>
          <p:nvPr/>
        </p:nvSpPr>
        <p:spPr>
          <a:xfrm>
            <a:off x="884903" y="1529658"/>
            <a:ext cx="5692878"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Step2</a:t>
            </a:r>
            <a:r>
              <a:rPr lang="en-US" altLang="ja-JP" dirty="0">
                <a:latin typeface="BIZ UDPゴシック" panose="020B0400000000000000" pitchFamily="50" charset="-128"/>
                <a:ea typeface="BIZ UDPゴシック" panose="020B0400000000000000" pitchFamily="50" charset="-128"/>
              </a:rPr>
              <a:t> : </a:t>
            </a:r>
            <a:r>
              <a:rPr lang="ja-JP" altLang="en-US" dirty="0">
                <a:latin typeface="BIZ UDPゴシック" panose="020B0400000000000000" pitchFamily="50" charset="-128"/>
                <a:ea typeface="BIZ UDPゴシック" panose="020B0400000000000000" pitchFamily="50" charset="-128"/>
              </a:rPr>
              <a:t>工程「総組付」の不具合内容別にグラフ化</a:t>
            </a:r>
            <a:endParaRPr kumimoji="1" lang="en-US" altLang="ja-JP"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399ABAEE-D483-C871-95C5-F475641F9E80}"/>
              </a:ext>
            </a:extLst>
          </p:cNvPr>
          <p:cNvSpPr txBox="1"/>
          <p:nvPr/>
        </p:nvSpPr>
        <p:spPr>
          <a:xfrm>
            <a:off x="8141110" y="2546555"/>
            <a:ext cx="3283974" cy="2062103"/>
          </a:xfrm>
          <a:prstGeom prst="rect">
            <a:avLst/>
          </a:prstGeom>
          <a:noFill/>
        </p:spPr>
        <p:txBody>
          <a:bodyPr wrap="square" rtlCol="0">
            <a:spAutoFit/>
          </a:bodyPr>
          <a:lstStyle/>
          <a:p>
            <a:r>
              <a:rPr kumimoji="1" lang="en-US" altLang="ja-JP" sz="3200" dirty="0">
                <a:latin typeface="BIZ UDPゴシック" panose="020B0400000000000000" pitchFamily="50" charset="-128"/>
                <a:ea typeface="BIZ UDPゴシック" panose="020B0400000000000000" pitchFamily="50" charset="-128"/>
              </a:rPr>
              <a:t>1,</a:t>
            </a:r>
            <a:r>
              <a:rPr lang="ja-JP" altLang="en-US" sz="3200" dirty="0">
                <a:latin typeface="BIZ UDPゴシック" panose="020B0400000000000000" pitchFamily="50" charset="-128"/>
                <a:ea typeface="BIZ UDPゴシック" panose="020B0400000000000000" pitchFamily="50" charset="-128"/>
              </a:rPr>
              <a:t>設計不良</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2,</a:t>
            </a:r>
            <a:r>
              <a:rPr lang="ja-JP" altLang="en-US" sz="3200" dirty="0">
                <a:latin typeface="BIZ UDPゴシック" panose="020B0400000000000000" pitchFamily="50" charset="-128"/>
                <a:ea typeface="BIZ UDPゴシック" panose="020B0400000000000000" pitchFamily="50" charset="-128"/>
              </a:rPr>
              <a:t>ポカミス</a:t>
            </a:r>
            <a:endParaRPr lang="en-US" altLang="ja-JP" sz="3200" dirty="0">
              <a:latin typeface="BIZ UDPゴシック" panose="020B0400000000000000" pitchFamily="50" charset="-128"/>
              <a:ea typeface="BIZ UDPゴシック" panose="020B0400000000000000" pitchFamily="50" charset="-128"/>
            </a:endParaRPr>
          </a:p>
          <a:p>
            <a:r>
              <a:rPr kumimoji="1" lang="en-US" altLang="ja-JP" sz="3200" dirty="0">
                <a:latin typeface="BIZ UDPゴシック" panose="020B0400000000000000" pitchFamily="50" charset="-128"/>
                <a:ea typeface="BIZ UDPゴシック" panose="020B0400000000000000" pitchFamily="50" charset="-128"/>
              </a:rPr>
              <a:t>3,</a:t>
            </a:r>
            <a:r>
              <a:rPr kumimoji="1" lang="ja-JP" altLang="en-US" sz="3200" dirty="0">
                <a:latin typeface="BIZ UDPゴシック" panose="020B0400000000000000" pitchFamily="50" charset="-128"/>
                <a:ea typeface="BIZ UDPゴシック" panose="020B0400000000000000" pitchFamily="50" charset="-128"/>
              </a:rPr>
              <a:t>組付不良</a:t>
            </a:r>
            <a:endParaRPr kumimoji="1" lang="en-US" altLang="ja-JP" sz="3200" dirty="0">
              <a:latin typeface="BIZ UDPゴシック" panose="020B0400000000000000" pitchFamily="50" charset="-128"/>
              <a:ea typeface="BIZ UDPゴシック" panose="020B0400000000000000" pitchFamily="50" charset="-128"/>
            </a:endParaRPr>
          </a:p>
          <a:p>
            <a:r>
              <a:rPr lang="en-US" altLang="ja-JP" sz="3200" dirty="0">
                <a:latin typeface="BIZ UDPゴシック" panose="020B0400000000000000" pitchFamily="50" charset="-128"/>
                <a:ea typeface="BIZ UDPゴシック" panose="020B0400000000000000" pitchFamily="50" charset="-128"/>
              </a:rPr>
              <a:t>        </a:t>
            </a:r>
            <a:r>
              <a:rPr lang="ja-JP" altLang="en-US" sz="3200" dirty="0">
                <a:latin typeface="BIZ UDPゴシック" panose="020B0400000000000000" pitchFamily="50" charset="-128"/>
                <a:ea typeface="BIZ UDPゴシック" panose="020B0400000000000000" pitchFamily="50" charset="-128"/>
              </a:rPr>
              <a:t>：</a:t>
            </a:r>
            <a:endParaRPr kumimoji="1" lang="ja-JP" altLang="en-US" sz="3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73563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B8F9-9BBF-0C93-08CA-84C30198D6A3}"/>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29A522-EA04-AA62-6C0F-B17E71519653}"/>
              </a:ext>
            </a:extLst>
          </p:cNvPr>
          <p:cNvSpPr txBox="1"/>
          <p:nvPr/>
        </p:nvSpPr>
        <p:spPr>
          <a:xfrm>
            <a:off x="10720111" y="126836"/>
            <a:ext cx="1400770" cy="369332"/>
          </a:xfrm>
          <a:prstGeom prst="rect">
            <a:avLst/>
          </a:prstGeom>
          <a:noFill/>
        </p:spPr>
        <p:txBody>
          <a:bodyPr wrap="square" rtlCol="0">
            <a:spAutoFit/>
          </a:bodyPr>
          <a:lstStyle/>
          <a:p>
            <a:r>
              <a:rPr kumimoji="1" lang="en-US" altLang="ja-JP" dirty="0">
                <a:latin typeface="BIZ UDPゴシック" panose="020B0400000000000000" pitchFamily="50" charset="-128"/>
                <a:ea typeface="BIZ UDPゴシック" panose="020B0400000000000000" pitchFamily="50" charset="-128"/>
              </a:rPr>
              <a:t>13.Haruki</a:t>
            </a:r>
            <a:endParaRPr kumimoji="1" lang="ja-JP" altLang="en-US"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F1DEA044-BA6B-CB16-136A-FB865DF39F73}"/>
              </a:ext>
            </a:extLst>
          </p:cNvPr>
          <p:cNvSpPr txBox="1"/>
          <p:nvPr/>
        </p:nvSpPr>
        <p:spPr>
          <a:xfrm>
            <a:off x="434585" y="1223917"/>
            <a:ext cx="11686296" cy="2308324"/>
          </a:xfrm>
          <a:prstGeom prst="rect">
            <a:avLst/>
          </a:prstGeom>
          <a:noFill/>
        </p:spPr>
        <p:txBody>
          <a:bodyPr wrap="square" rtlCol="0">
            <a:spAutoFit/>
          </a:bodyPr>
          <a:lstStyle/>
          <a:p>
            <a:r>
              <a:rPr lang="ja-JP" altLang="en-US" sz="2400" dirty="0">
                <a:latin typeface="BIZ UDPゴシック" panose="020B0400000000000000" pitchFamily="50" charset="-128"/>
                <a:ea typeface="BIZ UDPゴシック" panose="020B0400000000000000" pitchFamily="50" charset="-128"/>
              </a:rPr>
              <a:t>＜これから＞</a:t>
            </a:r>
            <a:endParaRPr lang="en-US" altLang="ja-JP" sz="2400" dirty="0">
              <a:latin typeface="BIZ UDPゴシック" panose="020B0400000000000000" pitchFamily="50" charset="-128"/>
              <a:ea typeface="BIZ UDPゴシック" panose="020B0400000000000000" pitchFamily="50" charset="-128"/>
            </a:endParaRPr>
          </a:p>
          <a:p>
            <a:r>
              <a:rPr lang="en-US" altLang="ja-JP" sz="2400" dirty="0">
                <a:latin typeface="BIZ UDPゴシック" panose="020B0400000000000000" pitchFamily="50" charset="-128"/>
                <a:ea typeface="BIZ UDPゴシック" panose="020B0400000000000000" pitchFamily="50" charset="-128"/>
              </a:rPr>
              <a:t>Python</a:t>
            </a:r>
            <a:r>
              <a:rPr lang="ja-JP" altLang="en-US" sz="2400" dirty="0">
                <a:latin typeface="BIZ UDPゴシック" panose="020B0400000000000000" pitchFamily="50" charset="-128"/>
                <a:ea typeface="BIZ UDPゴシック" panose="020B0400000000000000" pitchFamily="50" charset="-128"/>
              </a:rPr>
              <a:t>の第一歩を踏み出し、</a:t>
            </a:r>
            <a:r>
              <a:rPr lang="en-US" altLang="ja-JP" sz="2400" dirty="0">
                <a:latin typeface="BIZ UDPゴシック" panose="020B0400000000000000" pitchFamily="50" charset="-128"/>
                <a:ea typeface="BIZ UDPゴシック" panose="020B0400000000000000" pitchFamily="50" charset="-128"/>
              </a:rPr>
              <a:t>Python</a:t>
            </a:r>
            <a:r>
              <a:rPr lang="ja-JP" altLang="en-US" sz="2400" dirty="0">
                <a:latin typeface="BIZ UDPゴシック" panose="020B0400000000000000" pitchFamily="50" charset="-128"/>
                <a:ea typeface="BIZ UDPゴシック" panose="020B0400000000000000" pitchFamily="50" charset="-128"/>
              </a:rPr>
              <a:t>の書き方の感覚を知ることができた。</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今回はグラフの作成だけでしたが、業務を通してスキルアップしていき、</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多くの人の困り事改善につなげていきたい。</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コードの書き方で苦労したことがあったが、課題を突破できたときの嬉しさを忘れずに</a:t>
            </a:r>
            <a:endParaRPr lang="en-US" altLang="ja-JP" sz="2400" dirty="0">
              <a:latin typeface="BIZ UDPゴシック" panose="020B0400000000000000" pitchFamily="50" charset="-128"/>
              <a:ea typeface="BIZ UDPゴシック" panose="020B0400000000000000" pitchFamily="50" charset="-128"/>
            </a:endParaRPr>
          </a:p>
          <a:p>
            <a:r>
              <a:rPr lang="ja-JP" altLang="en-US" sz="2400" dirty="0">
                <a:latin typeface="BIZ UDPゴシック" panose="020B0400000000000000" pitchFamily="50" charset="-128"/>
                <a:ea typeface="BIZ UDPゴシック" panose="020B0400000000000000" pitchFamily="50" charset="-128"/>
              </a:rPr>
              <a:t>困ったら誰かに相談することも大切にプログラミングを楽しんでいきたい。</a:t>
            </a:r>
            <a:endParaRPr lang="en-US" altLang="ja-JP" sz="2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0588147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TotalTime>
  <Words>849</Words>
  <Application>Microsoft Office PowerPoint</Application>
  <PresentationFormat>ワイド画面</PresentationFormat>
  <Paragraphs>103</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BIZ UDPゴシック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Furuzono, Haruki/古薗 悠</dc:creator>
  <cp:lastModifiedBy>Furuzono, Haruki/古薗 悠</cp:lastModifiedBy>
  <cp:revision>25</cp:revision>
  <dcterms:created xsi:type="dcterms:W3CDTF">2026-01-20T04:34:42Z</dcterms:created>
  <dcterms:modified xsi:type="dcterms:W3CDTF">2026-01-20T23:16:32Z</dcterms:modified>
</cp:coreProperties>
</file>